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71" r:id="rId9"/>
    <p:sldId id="264" r:id="rId10"/>
    <p:sldId id="265" r:id="rId11"/>
    <p:sldId id="267" r:id="rId12"/>
    <p:sldId id="269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89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6068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6310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file/d/1BoHvUr8O08n0j1CSx7r-svRK2M9_huwD/view?usp=drivesdk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640080" y="118872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4DA8FF">
              <a:alpha val="25000"/>
            </a:srgbClr>
          </a:solidFill>
          <a:ln w="12700">
            <a:solidFill>
              <a:srgbClr val="4DA8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2"/>
          <p:cNvSpPr/>
          <p:nvPr/>
        </p:nvSpPr>
        <p:spPr>
          <a:xfrm>
            <a:off x="640080" y="1188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ROBOTICS · HRI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kern="0" spc="-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Pepper-</a:t>
            </a:r>
            <a:r>
              <a:rPr lang="en-US" sz="8400" b="1" kern="0" spc="-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azzi</a:t>
            </a:r>
            <a:endParaRPr lang="en-US" sz="8400" dirty="0"/>
          </a:p>
        </p:txBody>
      </p:sp>
      <p:sp>
        <p:nvSpPr>
          <p:cNvPr id="7" name="Shape 4"/>
          <p:cNvSpPr/>
          <p:nvPr/>
        </p:nvSpPr>
        <p:spPr>
          <a:xfrm>
            <a:off x="685800" y="3154680"/>
            <a:ext cx="164592" cy="164592"/>
          </a:xfrm>
          <a:prstGeom prst="ellipse">
            <a:avLst/>
          </a:prstGeom>
          <a:solidFill>
            <a:srgbClr val="4DA8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" name="Shape 5"/>
          <p:cNvSpPr/>
          <p:nvPr/>
        </p:nvSpPr>
        <p:spPr>
          <a:xfrm>
            <a:off x="932688" y="3154680"/>
            <a:ext cx="164592" cy="164592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Shape 6"/>
          <p:cNvSpPr/>
          <p:nvPr/>
        </p:nvSpPr>
        <p:spPr>
          <a:xfrm>
            <a:off x="1179576" y="3154680"/>
            <a:ext cx="164592" cy="164592"/>
          </a:xfrm>
          <a:prstGeom prst="ellipse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" name="Text 7"/>
          <p:cNvSpPr/>
          <p:nvPr/>
        </p:nvSpPr>
        <p:spPr>
          <a:xfrm>
            <a:off x="640080" y="3520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DB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Teaching Assistant Using Pepper Robot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640080" y="4297680"/>
            <a:ext cx="548640" cy="36576"/>
          </a:xfrm>
          <a:prstGeom prst="rect">
            <a:avLst/>
          </a:prstGeom>
          <a:solidFill>
            <a:srgbClr val="4DA8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2" name="Text 9"/>
          <p:cNvSpPr/>
          <p:nvPr/>
        </p:nvSpPr>
        <p:spPr>
          <a:xfrm>
            <a:off x="64008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D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Human-Robot Interaction (HRI)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4800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D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Elie Saad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5349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4D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PEPPERAZZI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56509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B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Kanaan  ·  Tatiana Abi Fadel  ·  Charbel Salloum  ·  Kevin Skayem  ·  Joseph Naous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300" dirty="0">
                <a:solidFill>
                  <a:srgbClr val="DB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USEK · School of Engineering · Spring 2025–2026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C7C40E9-9324-4C33-857B-7C0E8D655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8440" y="1269296"/>
            <a:ext cx="4153480" cy="48012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>
            <a:extLst>
              <a:ext uri="{FF2B5EF4-FFF2-40B4-BE49-F238E27FC236}">
                <a16:creationId xmlns:a16="http://schemas.microsoft.com/office/drawing/2014/main" id="{E3A6D1DC-BDAE-4B86-91BA-C85EA6A1FEF1}"/>
              </a:ext>
            </a:extLst>
          </p:cNvPr>
          <p:cNvSpPr/>
          <p:nvPr/>
        </p:nvSpPr>
        <p:spPr>
          <a:xfrm>
            <a:off x="5820228" y="-1"/>
            <a:ext cx="6371467" cy="6858001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4DA8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749808" y="4114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PEPPERAZZI  ·  HRI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91440" cy="91440"/>
          </a:xfrm>
          <a:prstGeom prst="ellipse">
            <a:avLst/>
          </a:prstGeom>
          <a:solidFill>
            <a:srgbClr val="4DA8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676656" y="1481328"/>
            <a:ext cx="91440" cy="91440"/>
          </a:xfrm>
          <a:prstGeom prst="ellipse">
            <a:avLst/>
          </a:prstGeom>
          <a:solidFill>
            <a:srgbClr val="3D7BD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" name="Shape 6"/>
          <p:cNvSpPr/>
          <p:nvPr/>
        </p:nvSpPr>
        <p:spPr>
          <a:xfrm>
            <a:off x="822960" y="1481328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Pepper — an AI-powered teaching assistant built on the Pepper humanoid robot to transform the classroom experience.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the USEK HRI course, Pepper interacts with students through speech, motion, and a tablet interface. It explains lessons, answers questions in real-time using Gemini AI, runs interactive quizzes, applies fun AI image filters, records attendance via face recognition, and gathers session rating — all in one seamless classroom flow.</a:t>
            </a:r>
            <a:endParaRPr lang="en-US" sz="13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8ACA0B7-441C-4BCE-B1E2-E406FB470A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461" t="6000" r="15034" b="3493"/>
          <a:stretch/>
        </p:blipFill>
        <p:spPr>
          <a:xfrm>
            <a:off x="6530847" y="1110343"/>
            <a:ext cx="4982266" cy="4637314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D85BC416-F4D2-402F-B5CD-B8C72F53BE55}"/>
              </a:ext>
            </a:extLst>
          </p:cNvPr>
          <p:cNvSpPr/>
          <p:nvPr/>
        </p:nvSpPr>
        <p:spPr>
          <a:xfrm>
            <a:off x="251749" y="5747657"/>
            <a:ext cx="1083671" cy="965200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FC0BE22-F7D2-4CA6-8B8E-853A085EF0F2}"/>
              </a:ext>
            </a:extLst>
          </p:cNvPr>
          <p:cNvSpPr/>
          <p:nvPr/>
        </p:nvSpPr>
        <p:spPr>
          <a:xfrm>
            <a:off x="1955945" y="5037473"/>
            <a:ext cx="1411369" cy="1409047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99BE305-4C6E-4FF0-8C68-E1C299C06D5D}"/>
              </a:ext>
            </a:extLst>
          </p:cNvPr>
          <p:cNvSpPr/>
          <p:nvPr/>
        </p:nvSpPr>
        <p:spPr>
          <a:xfrm>
            <a:off x="3987839" y="4478274"/>
            <a:ext cx="1656727" cy="165557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4DA8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749808" y="4114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PEPPERAZZI  ·  HRI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91440" cy="91440"/>
          </a:xfrm>
          <a:prstGeom prst="ellipse">
            <a:avLst/>
          </a:prstGeom>
          <a:solidFill>
            <a:srgbClr val="4DA8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676656" y="1481328"/>
            <a:ext cx="91440" cy="91440"/>
          </a:xfrm>
          <a:prstGeom prst="ellipse">
            <a:avLst/>
          </a:prstGeom>
          <a:solidFill>
            <a:srgbClr val="3D7BD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" name="Shape 6"/>
          <p:cNvSpPr/>
          <p:nvPr/>
        </p:nvSpPr>
        <p:spPr>
          <a:xfrm>
            <a:off x="822960" y="1481328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3931920" y="1298186"/>
            <a:ext cx="4078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goals that shape our Pepper-</a:t>
            </a:r>
            <a:r>
              <a:rPr lang="en-US" sz="140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azzi</a:t>
            </a: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interaction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468880"/>
            <a:ext cx="2743200" cy="1874520"/>
          </a:xfrm>
          <a:prstGeom prst="rect">
            <a:avLst/>
          </a:prstGeom>
          <a:solidFill>
            <a:srgbClr val="E8EFF9"/>
          </a:solidFill>
          <a:ln w="9525">
            <a:solidFill>
              <a:srgbClr val="B8CCE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2"/>
          <p:cNvSpPr/>
          <p:nvPr/>
        </p:nvSpPr>
        <p:spPr>
          <a:xfrm>
            <a:off x="3310128" y="2468880"/>
            <a:ext cx="2743200" cy="1874520"/>
          </a:xfrm>
          <a:prstGeom prst="rect">
            <a:avLst/>
          </a:prstGeom>
          <a:solidFill>
            <a:srgbClr val="E8EFF9"/>
          </a:solidFill>
          <a:ln w="9525">
            <a:solidFill>
              <a:srgbClr val="B8CCE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Shape 16"/>
          <p:cNvSpPr/>
          <p:nvPr/>
        </p:nvSpPr>
        <p:spPr>
          <a:xfrm>
            <a:off x="6117336" y="2468880"/>
            <a:ext cx="2743200" cy="1874520"/>
          </a:xfrm>
          <a:prstGeom prst="rect">
            <a:avLst/>
          </a:prstGeom>
          <a:solidFill>
            <a:srgbClr val="E8EFF9"/>
          </a:solidFill>
          <a:ln w="9525">
            <a:solidFill>
              <a:srgbClr val="B8CCE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" name="Shape 20"/>
          <p:cNvSpPr/>
          <p:nvPr/>
        </p:nvSpPr>
        <p:spPr>
          <a:xfrm>
            <a:off x="8924544" y="2468880"/>
            <a:ext cx="2743200" cy="1874520"/>
          </a:xfrm>
          <a:prstGeom prst="rect">
            <a:avLst/>
          </a:prstGeom>
          <a:solidFill>
            <a:srgbClr val="E8EFF9"/>
          </a:solidFill>
          <a:ln w="9525">
            <a:solidFill>
              <a:srgbClr val="B8CCE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0" name="Shape 24"/>
          <p:cNvSpPr/>
          <p:nvPr/>
        </p:nvSpPr>
        <p:spPr>
          <a:xfrm>
            <a:off x="502920" y="4526280"/>
            <a:ext cx="2743200" cy="1874520"/>
          </a:xfrm>
          <a:prstGeom prst="rect">
            <a:avLst/>
          </a:prstGeom>
          <a:solidFill>
            <a:srgbClr val="E8EFF9"/>
          </a:solidFill>
          <a:ln w="9525">
            <a:solidFill>
              <a:srgbClr val="B8CCE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5" name="Shape 28"/>
          <p:cNvSpPr/>
          <p:nvPr/>
        </p:nvSpPr>
        <p:spPr>
          <a:xfrm>
            <a:off x="3310128" y="4526280"/>
            <a:ext cx="2743200" cy="1874520"/>
          </a:xfrm>
          <a:prstGeom prst="rect">
            <a:avLst/>
          </a:prstGeom>
          <a:solidFill>
            <a:srgbClr val="E8EFF9"/>
          </a:solidFill>
          <a:ln w="9525">
            <a:solidFill>
              <a:srgbClr val="B8CCE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0" name="Shape 32"/>
          <p:cNvSpPr/>
          <p:nvPr/>
        </p:nvSpPr>
        <p:spPr>
          <a:xfrm>
            <a:off x="6117336" y="4526280"/>
            <a:ext cx="2743200" cy="1874520"/>
          </a:xfrm>
          <a:prstGeom prst="rect">
            <a:avLst/>
          </a:prstGeom>
          <a:solidFill>
            <a:srgbClr val="E8EFF9"/>
          </a:solidFill>
          <a:ln w="9525">
            <a:solidFill>
              <a:srgbClr val="B8CCE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5" name="Shape 36"/>
          <p:cNvSpPr/>
          <p:nvPr/>
        </p:nvSpPr>
        <p:spPr>
          <a:xfrm>
            <a:off x="8924544" y="4526280"/>
            <a:ext cx="2743200" cy="1874520"/>
          </a:xfrm>
          <a:prstGeom prst="rect">
            <a:avLst/>
          </a:prstGeom>
          <a:solidFill>
            <a:srgbClr val="E8EFF9"/>
          </a:solidFill>
          <a:ln w="9525">
            <a:solidFill>
              <a:srgbClr val="B8CCE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A4DDE6F2-68D3-40A4-B87F-9B03C8479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04278"/>
            <a:ext cx="1840992" cy="164944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F75C23F-D176-4DFD-9883-8222754B6D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209" y="2598560"/>
            <a:ext cx="1910715" cy="166087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5FF13541-A8FE-4B07-983D-415533C2F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2025" y="2604278"/>
            <a:ext cx="1922257" cy="1658554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903F793C-BBE0-442B-9624-0511407859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7466" y="2598560"/>
            <a:ext cx="1842484" cy="165612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77CF2E22-3A47-4163-8C65-8D8D808836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665556"/>
            <a:ext cx="1828800" cy="1601894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483B60BB-5916-41FA-BE47-275D998521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0101" y="4665555"/>
            <a:ext cx="1762474" cy="1607753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97171001-8FF6-472D-85F6-732D481E7F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2025" y="4671235"/>
            <a:ext cx="1762474" cy="1584609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764B7D47-4667-48F5-8631-EF92467ECC4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65225" y="4665555"/>
            <a:ext cx="1764725" cy="1649276"/>
          </a:xfrm>
          <a:prstGeom prst="rect">
            <a:avLst/>
          </a:prstGeom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id="{3497BC35-F517-49E9-8860-8E37CB4D9421}"/>
              </a:ext>
            </a:extLst>
          </p:cNvPr>
          <p:cNvSpPr/>
          <p:nvPr/>
        </p:nvSpPr>
        <p:spPr>
          <a:xfrm>
            <a:off x="10350277" y="-1309561"/>
            <a:ext cx="2841588" cy="2619121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4DA8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749808" y="4114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PEPPERAZZI  ·  HRI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91440" cy="91440"/>
          </a:xfrm>
          <a:prstGeom prst="ellipse">
            <a:avLst/>
          </a:prstGeom>
          <a:solidFill>
            <a:srgbClr val="4DA8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676656" y="1481328"/>
            <a:ext cx="91440" cy="91440"/>
          </a:xfrm>
          <a:prstGeom prst="ellipse">
            <a:avLst/>
          </a:prstGeom>
          <a:solidFill>
            <a:srgbClr val="3D7BD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" name="Shape 6"/>
          <p:cNvSpPr/>
          <p:nvPr/>
        </p:nvSpPr>
        <p:spPr>
          <a:xfrm>
            <a:off x="822960" y="1481328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4334256" y="12573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Pepper's hardware, AI services, and tablet UI connect</a:t>
            </a:r>
            <a:endParaRPr lang="en-US" sz="14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1CD3978-DB57-46C4-9986-D8E52CF86A1F}"/>
              </a:ext>
            </a:extLst>
          </p:cNvPr>
          <p:cNvSpPr/>
          <p:nvPr/>
        </p:nvSpPr>
        <p:spPr>
          <a:xfrm rot="19725283">
            <a:off x="10182658" y="-1135629"/>
            <a:ext cx="2372762" cy="257907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A418A96D-9CEE-42F1-9988-49BF7C79D6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22" t="28779" r="2406" b="2244"/>
          <a:stretch/>
        </p:blipFill>
        <p:spPr>
          <a:xfrm>
            <a:off x="1131683" y="1973654"/>
            <a:ext cx="9868277" cy="4730437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BC29A596-32E9-4519-B2B2-98F16E7AAA43}"/>
              </a:ext>
            </a:extLst>
          </p:cNvPr>
          <p:cNvSpPr/>
          <p:nvPr/>
        </p:nvSpPr>
        <p:spPr>
          <a:xfrm rot="19725283">
            <a:off x="-459042" y="6027115"/>
            <a:ext cx="2070226" cy="189217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4DA8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749808" y="4114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PEPPERAZZI  ·  HRI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Assist Course Introduction storyboard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91440" cy="91440"/>
          </a:xfrm>
          <a:prstGeom prst="ellipse">
            <a:avLst/>
          </a:prstGeom>
          <a:solidFill>
            <a:srgbClr val="4DA8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676656" y="1481328"/>
            <a:ext cx="91440" cy="91440"/>
          </a:xfrm>
          <a:prstGeom prst="ellipse">
            <a:avLst/>
          </a:prstGeom>
          <a:solidFill>
            <a:srgbClr val="3D7BD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" name="Shape 6"/>
          <p:cNvSpPr/>
          <p:nvPr/>
        </p:nvSpPr>
        <p:spPr>
          <a:xfrm>
            <a:off x="822960" y="1481328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3098533" cy="4434840"/>
          </a:xfrm>
          <a:prstGeom prst="roundRect">
            <a:avLst>
              <a:gd name="adj" fmla="val 2609"/>
            </a:avLst>
          </a:prstGeom>
          <a:solidFill>
            <a:srgbClr val="E8EFF9"/>
          </a:solidFill>
          <a:ln w="9525">
            <a:solidFill>
              <a:srgbClr val="B8CCE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777240" y="2194560"/>
            <a:ext cx="777240" cy="77724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777240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9164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Co-Host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2606040"/>
            <a:ext cx="11991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 assists the doctor during the AI course introduction.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74136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80160" y="33375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Greets students along side Dr. Maria</a:t>
            </a:r>
            <a:endParaRPr lang="en-US" sz="1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87368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80160" y="405079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AI illustrations on tablet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006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4764024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humor and live commentary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51383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547725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gesture + voice sync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3787381" y="1426624"/>
            <a:ext cx="7874267" cy="5038344"/>
          </a:xfrm>
          <a:prstGeom prst="roundRect">
            <a:avLst>
              <a:gd name="adj" fmla="val 2400"/>
            </a:avLst>
          </a:prstGeom>
          <a:solidFill>
            <a:srgbClr val="0A1733"/>
          </a:solidFill>
          <a:ln/>
        </p:spPr>
        <p:txBody>
          <a:bodyPr/>
          <a:lstStyle/>
          <a:p>
            <a:endParaRPr lang="en-CN"/>
          </a:p>
        </p:txBody>
      </p:sp>
      <p:pic>
        <p:nvPicPr>
          <p:cNvPr id="23" name="Image 4" descr="/home/claude/assets/image2.jpe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945923" y="1527048"/>
            <a:ext cx="7557182" cy="48091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4DA8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749808" y="4114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PEPPERAZZI  ·  HRI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Answer Student Questions Storyboard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91440" cy="91440"/>
          </a:xfrm>
          <a:prstGeom prst="ellipse">
            <a:avLst/>
          </a:prstGeom>
          <a:solidFill>
            <a:srgbClr val="4DA8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676656" y="1481328"/>
            <a:ext cx="91440" cy="91440"/>
          </a:xfrm>
          <a:prstGeom prst="ellipse">
            <a:avLst/>
          </a:prstGeom>
          <a:solidFill>
            <a:srgbClr val="3D7BD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" name="Shape 6"/>
          <p:cNvSpPr/>
          <p:nvPr/>
        </p:nvSpPr>
        <p:spPr>
          <a:xfrm>
            <a:off x="822960" y="1481328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3154680" cy="4297680"/>
          </a:xfrm>
          <a:prstGeom prst="roundRect">
            <a:avLst>
              <a:gd name="adj" fmla="val 2609"/>
            </a:avLst>
          </a:prstGeom>
          <a:solidFill>
            <a:srgbClr val="E8EFF9"/>
          </a:solidFill>
          <a:ln w="9525">
            <a:solidFill>
              <a:srgbClr val="B8CCE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777240" y="2194560"/>
            <a:ext cx="777240" cy="77724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777240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9164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Q&amp;A Session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2606040"/>
            <a:ext cx="12869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 detects raised hands and answers using Gemini AI.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74136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80160" y="33375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raise their hands</a:t>
            </a:r>
            <a:endParaRPr lang="en-US" sz="1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87368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80160" y="405079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 detects and approaches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006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4764024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generates the answer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51383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547725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chat displayed on tablet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3794760" y="1417320"/>
            <a:ext cx="7955280" cy="5074920"/>
          </a:xfrm>
          <a:prstGeom prst="roundRect">
            <a:avLst>
              <a:gd name="adj" fmla="val 2400"/>
            </a:avLst>
          </a:prstGeom>
          <a:solidFill>
            <a:srgbClr val="0A1733"/>
          </a:solidFill>
          <a:ln/>
        </p:spPr>
        <p:txBody>
          <a:bodyPr/>
          <a:lstStyle/>
          <a:p>
            <a:endParaRPr lang="en-CN"/>
          </a:p>
        </p:txBody>
      </p:sp>
      <p:pic>
        <p:nvPicPr>
          <p:cNvPr id="23" name="Image 4" descr="/home/claude/assets/image3.jpe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954933" y="1481328"/>
            <a:ext cx="7634933" cy="48585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4DA8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749808" y="4114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PEPPERAZZI  ·  HRI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Conduct Pop Quiz Storyboard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91440" cy="91440"/>
          </a:xfrm>
          <a:prstGeom prst="ellipse">
            <a:avLst/>
          </a:prstGeom>
          <a:solidFill>
            <a:srgbClr val="4DA8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676656" y="1481328"/>
            <a:ext cx="91440" cy="91440"/>
          </a:xfrm>
          <a:prstGeom prst="ellipse">
            <a:avLst/>
          </a:prstGeom>
          <a:solidFill>
            <a:srgbClr val="3D7BD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" name="Shape 6"/>
          <p:cNvSpPr/>
          <p:nvPr/>
        </p:nvSpPr>
        <p:spPr>
          <a:xfrm>
            <a:off x="822960" y="1481328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3337560" cy="4297680"/>
          </a:xfrm>
          <a:prstGeom prst="roundRect">
            <a:avLst>
              <a:gd name="adj" fmla="val 2609"/>
            </a:avLst>
          </a:prstGeom>
          <a:solidFill>
            <a:srgbClr val="E8EFF9"/>
          </a:solidFill>
          <a:ln w="9525">
            <a:solidFill>
              <a:srgbClr val="B8CCE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777240" y="2194560"/>
            <a:ext cx="777240" cy="77724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777240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9164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Quiz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2606040"/>
            <a:ext cx="187542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 tests student understanding with a 5-question quiz.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74136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80160" y="33375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auto-loaded from JSON</a:t>
            </a:r>
            <a:endParaRPr lang="en-US" sz="1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87368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80160" y="405079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answer via tablet or voice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006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4764024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 checks and scores answers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51383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547725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3977640" y="1527048"/>
            <a:ext cx="7772400" cy="4965192"/>
          </a:xfrm>
          <a:prstGeom prst="roundRect">
            <a:avLst>
              <a:gd name="adj" fmla="val 2400"/>
            </a:avLst>
          </a:prstGeom>
          <a:solidFill>
            <a:srgbClr val="0A1733"/>
          </a:solidFill>
          <a:ln/>
        </p:spPr>
        <p:txBody>
          <a:bodyPr/>
          <a:lstStyle/>
          <a:p>
            <a:endParaRPr lang="en-CN"/>
          </a:p>
        </p:txBody>
      </p:sp>
      <p:pic>
        <p:nvPicPr>
          <p:cNvPr id="23" name="Image 4" descr="/home/claude/assets/image4.jpe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153463" y="1636193"/>
            <a:ext cx="7459417" cy="47469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4DA8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749808" y="4114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PEPPERAZZI  ·  HRI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Apply Fun Image Filters Storyboard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91440" cy="91440"/>
          </a:xfrm>
          <a:prstGeom prst="ellipse">
            <a:avLst/>
          </a:prstGeom>
          <a:solidFill>
            <a:srgbClr val="4DA8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676656" y="1481328"/>
            <a:ext cx="91440" cy="91440"/>
          </a:xfrm>
          <a:prstGeom prst="ellipse">
            <a:avLst/>
          </a:prstGeom>
          <a:solidFill>
            <a:srgbClr val="3D7BD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" name="Shape 6"/>
          <p:cNvSpPr/>
          <p:nvPr/>
        </p:nvSpPr>
        <p:spPr>
          <a:xfrm>
            <a:off x="822960" y="1481328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3440430" cy="4251960"/>
          </a:xfrm>
          <a:prstGeom prst="roundRect">
            <a:avLst>
              <a:gd name="adj" fmla="val 2609"/>
            </a:avLst>
          </a:prstGeom>
          <a:solidFill>
            <a:srgbClr val="E8EFF9"/>
          </a:solidFill>
          <a:ln w="9525">
            <a:solidFill>
              <a:srgbClr val="B8CCE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777240" y="2194560"/>
            <a:ext cx="777240" cy="77724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777240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9164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Image Filters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2606040"/>
            <a:ext cx="18040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Capture, transform, and share photos — powered by Gemini.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74136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80160" y="33375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pick filter on tablet</a:t>
            </a:r>
            <a:endParaRPr lang="en-US" sz="1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87368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80160" y="405079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 captures the photo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006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4764024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applies hats, glasses, cartoons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51383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547725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lets students download it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080510" y="1527048"/>
            <a:ext cx="7669530" cy="4965192"/>
          </a:xfrm>
          <a:prstGeom prst="roundRect">
            <a:avLst>
              <a:gd name="adj" fmla="val 2400"/>
            </a:avLst>
          </a:prstGeom>
          <a:solidFill>
            <a:srgbClr val="0A1733"/>
          </a:solidFill>
          <a:ln/>
        </p:spPr>
        <p:txBody>
          <a:bodyPr/>
          <a:lstStyle/>
          <a:p>
            <a:endParaRPr lang="en-CN"/>
          </a:p>
        </p:txBody>
      </p:sp>
      <p:pic>
        <p:nvPicPr>
          <p:cNvPr id="24" name="Picture 23" descr="A collage of a robot holding a tablet&#10;&#10;Description automatically generated">
            <a:extLst>
              <a:ext uri="{FF2B5EF4-FFF2-40B4-BE49-F238E27FC236}">
                <a16:creationId xmlns:a16="http://schemas.microsoft.com/office/drawing/2014/main" id="{D2EBCAE8-17A6-40E9-ACF0-9C04F33D32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0589" y="1748028"/>
            <a:ext cx="7459089" cy="442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611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4DA8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749808" y="4114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PEPPERAZZI  ·  HRI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Apply Fun Image Filters Storyboard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91440" cy="91440"/>
          </a:xfrm>
          <a:prstGeom prst="ellipse">
            <a:avLst/>
          </a:prstGeom>
          <a:solidFill>
            <a:srgbClr val="4DA8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676656" y="1481328"/>
            <a:ext cx="91440" cy="91440"/>
          </a:xfrm>
          <a:prstGeom prst="ellipse">
            <a:avLst/>
          </a:prstGeom>
          <a:solidFill>
            <a:srgbClr val="3D7BD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" name="Shape 6"/>
          <p:cNvSpPr/>
          <p:nvPr/>
        </p:nvSpPr>
        <p:spPr>
          <a:xfrm>
            <a:off x="822960" y="1481328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3440430" cy="4251960"/>
          </a:xfrm>
          <a:prstGeom prst="roundRect">
            <a:avLst>
              <a:gd name="adj" fmla="val 2609"/>
            </a:avLst>
          </a:prstGeom>
          <a:solidFill>
            <a:srgbClr val="E8EFF9"/>
          </a:solidFill>
          <a:ln w="9525">
            <a:solidFill>
              <a:srgbClr val="B8CCE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777240" y="2194560"/>
            <a:ext cx="777240" cy="77724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777240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9164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Image Filters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2606040"/>
            <a:ext cx="18040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Capture, transform, and share photos — powered by Gemini.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3546920"/>
            <a:ext cx="365760" cy="365760"/>
          </a:xfrm>
          <a:prstGeom prst="rect">
            <a:avLst/>
          </a:prstGeom>
        </p:spPr>
      </p:pic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4206240"/>
            <a:ext cx="365760" cy="365760"/>
          </a:xfrm>
          <a:prstGeom prst="rect">
            <a:avLst/>
          </a:prstGeom>
        </p:spPr>
      </p:pic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5391" y="5117021"/>
            <a:ext cx="365760" cy="365760"/>
          </a:xfrm>
          <a:prstGeom prst="rect">
            <a:avLst/>
          </a:prstGeom>
        </p:spPr>
      </p:pic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1865" y="420624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4176141"/>
            <a:ext cx="22155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detect many faces and apply filters on them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080510" y="1527048"/>
            <a:ext cx="7669530" cy="4965192"/>
          </a:xfrm>
          <a:prstGeom prst="roundRect">
            <a:avLst>
              <a:gd name="adj" fmla="val 2400"/>
            </a:avLst>
          </a:prstGeom>
          <a:solidFill>
            <a:srgbClr val="0A1733"/>
          </a:solidFill>
          <a:ln/>
        </p:spPr>
        <p:txBody>
          <a:bodyPr/>
          <a:lstStyle/>
          <a:p>
            <a:endParaRPr lang="en-CN"/>
          </a:p>
        </p:txBody>
      </p:sp>
      <p:pic>
        <p:nvPicPr>
          <p:cNvPr id="23" name="Image 4" descr="/home/claude/assets/image5.jpe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217670" y="1643861"/>
            <a:ext cx="7435317" cy="47315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4DA8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749808" y="4114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PEPPERAZZI  ·  HRI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5 · Attendance &amp; Survey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91440" cy="91440"/>
          </a:xfrm>
          <a:prstGeom prst="ellipse">
            <a:avLst/>
          </a:prstGeom>
          <a:solidFill>
            <a:srgbClr val="4DA8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676656" y="1481328"/>
            <a:ext cx="91440" cy="91440"/>
          </a:xfrm>
          <a:prstGeom prst="ellipse">
            <a:avLst/>
          </a:prstGeom>
          <a:solidFill>
            <a:srgbClr val="3D7BD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" name="Shape 6"/>
          <p:cNvSpPr/>
          <p:nvPr/>
        </p:nvSpPr>
        <p:spPr>
          <a:xfrm>
            <a:off x="822960" y="1481328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3621405" cy="4572000"/>
          </a:xfrm>
          <a:prstGeom prst="roundRect">
            <a:avLst>
              <a:gd name="adj" fmla="val 2609"/>
            </a:avLst>
          </a:prstGeom>
          <a:solidFill>
            <a:srgbClr val="E8EFF9"/>
          </a:solidFill>
          <a:ln w="9525">
            <a:solidFill>
              <a:srgbClr val="B8CCE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777240" y="2194560"/>
            <a:ext cx="777240" cy="77724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777240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9164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Feedback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2606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 the session — automatically.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74136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80160" y="33375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records presence</a:t>
            </a:r>
            <a:endParaRPr lang="en-US" sz="1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87368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80160" y="405079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report emailed to instructor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626417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52728" y="5589841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rate session (5 stars)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824603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4788027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opens survey on phone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398645" y="1527048"/>
            <a:ext cx="7351395" cy="4965192"/>
          </a:xfrm>
          <a:prstGeom prst="roundRect">
            <a:avLst>
              <a:gd name="adj" fmla="val 2400"/>
            </a:avLst>
          </a:prstGeom>
          <a:solidFill>
            <a:srgbClr val="0A1733"/>
          </a:solidFill>
          <a:ln/>
        </p:spPr>
        <p:txBody>
          <a:bodyPr/>
          <a:lstStyle/>
          <a:p>
            <a:endParaRPr lang="en-CN"/>
          </a:p>
        </p:txBody>
      </p:sp>
      <p:pic>
        <p:nvPicPr>
          <p:cNvPr id="23" name="Image 4" descr="/home/claude/assets/image6.jpe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450319" y="1714500"/>
            <a:ext cx="7238456" cy="46062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4DA8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749808" y="4114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PEPPERAZZI  ·  HRI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91440" cy="91440"/>
          </a:xfrm>
          <a:prstGeom prst="ellipse">
            <a:avLst/>
          </a:prstGeom>
          <a:solidFill>
            <a:srgbClr val="4DA8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676656" y="1481328"/>
            <a:ext cx="91440" cy="91440"/>
          </a:xfrm>
          <a:prstGeom prst="ellipse">
            <a:avLst/>
          </a:prstGeom>
          <a:solidFill>
            <a:srgbClr val="3D7BD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" name="Shape 6"/>
          <p:cNvSpPr/>
          <p:nvPr/>
        </p:nvSpPr>
        <p:spPr>
          <a:xfrm>
            <a:off x="822960" y="1481328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6766560" cy="3657600"/>
          </a:xfrm>
          <a:prstGeom prst="roundRect">
            <a:avLst>
              <a:gd name="adj" fmla="val 2500"/>
            </a:avLst>
          </a:prstGeom>
          <a:solidFill>
            <a:srgbClr val="E8EFF9"/>
          </a:solidFill>
          <a:ln w="9525">
            <a:solidFill>
              <a:srgbClr val="B8CCE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502920" y="19933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Choregraphe Workflow</a:t>
            </a:r>
            <a:endParaRPr lang="en-US" sz="1300" dirty="0"/>
          </a:p>
        </p:txBody>
      </p:sp>
      <p:pic>
        <p:nvPicPr>
          <p:cNvPr id="11" name="Image 0" descr="/home/claude/assets/image1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2423160"/>
            <a:ext cx="6400800" cy="30175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9808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498080" y="2377440"/>
            <a:ext cx="4206240" cy="594360"/>
          </a:xfrm>
          <a:prstGeom prst="rect">
            <a:avLst/>
          </a:prstGeom>
          <a:solidFill>
            <a:srgbClr val="E8EFF9"/>
          </a:solidFill>
          <a:ln w="6350">
            <a:solidFill>
              <a:srgbClr val="B8CCE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2"/>
          <p:cNvSpPr/>
          <p:nvPr/>
        </p:nvSpPr>
        <p:spPr>
          <a:xfrm>
            <a:off x="7498080" y="2377440"/>
            <a:ext cx="73152" cy="59436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lstStyle/>
          <a:p>
            <a:endParaRPr lang="en-C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2505456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13816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138160" y="2679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Flask · NAOqi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7498080" y="3090672"/>
            <a:ext cx="4206240" cy="594360"/>
          </a:xfrm>
          <a:prstGeom prst="rect">
            <a:avLst/>
          </a:prstGeom>
          <a:solidFill>
            <a:srgbClr val="E8EFF9"/>
          </a:solidFill>
          <a:ln w="6350">
            <a:solidFill>
              <a:srgbClr val="B8CCE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Shape 16"/>
          <p:cNvSpPr/>
          <p:nvPr/>
        </p:nvSpPr>
        <p:spPr>
          <a:xfrm>
            <a:off x="7498080" y="3090672"/>
            <a:ext cx="73152" cy="59436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lstStyle/>
          <a:p>
            <a:endParaRPr lang="en-C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9248" y="3218688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138160" y="3136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UI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138160" y="33924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JavaScript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7498080" y="3803904"/>
            <a:ext cx="4206240" cy="594360"/>
          </a:xfrm>
          <a:prstGeom prst="rect">
            <a:avLst/>
          </a:prstGeom>
          <a:solidFill>
            <a:srgbClr val="E8EFF9"/>
          </a:solidFill>
          <a:ln w="6350">
            <a:solidFill>
              <a:srgbClr val="B8CCE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" name="Shape 20"/>
          <p:cNvSpPr/>
          <p:nvPr/>
        </p:nvSpPr>
        <p:spPr>
          <a:xfrm>
            <a:off x="7498080" y="3803904"/>
            <a:ext cx="73152" cy="59436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lstStyle/>
          <a:p>
            <a:endParaRPr lang="en-C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9248" y="3931920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138160" y="38496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8138160" y="41056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· OpenCV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7498080" y="4517136"/>
            <a:ext cx="4206240" cy="594360"/>
          </a:xfrm>
          <a:prstGeom prst="rect">
            <a:avLst/>
          </a:prstGeom>
          <a:solidFill>
            <a:srgbClr val="E8EFF9"/>
          </a:solidFill>
          <a:ln w="6350">
            <a:solidFill>
              <a:srgbClr val="B8CCE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0" name="Shape 24"/>
          <p:cNvSpPr/>
          <p:nvPr/>
        </p:nvSpPr>
        <p:spPr>
          <a:xfrm>
            <a:off x="7498080" y="4517136"/>
            <a:ext cx="73152" cy="59436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lstStyle/>
          <a:p>
            <a:endParaRPr lang="en-CN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9248" y="4645152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138160" y="45628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0352" y="59207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b="1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33" name="Text 26"/>
          <p:cNvSpPr/>
          <p:nvPr/>
        </p:nvSpPr>
        <p:spPr>
          <a:xfrm>
            <a:off x="8138160" y="48188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Excel · QR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7498080" y="5230368"/>
            <a:ext cx="4206240" cy="594360"/>
          </a:xfrm>
          <a:prstGeom prst="rect">
            <a:avLst/>
          </a:prstGeom>
          <a:solidFill>
            <a:srgbClr val="E8EFF9"/>
          </a:solidFill>
          <a:ln w="6350">
            <a:solidFill>
              <a:srgbClr val="B8CCE6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5" name="Shape 28"/>
          <p:cNvSpPr/>
          <p:nvPr/>
        </p:nvSpPr>
        <p:spPr>
          <a:xfrm>
            <a:off x="7498080" y="5230368"/>
            <a:ext cx="73152" cy="59436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lstStyle/>
          <a:p>
            <a:endParaRPr lang="en-CN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9248" y="5358384"/>
            <a:ext cx="347472" cy="34747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138160" y="5276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8138160" y="5532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SMTP automation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532257" y="6126480"/>
            <a:ext cx="11201400" cy="457200"/>
          </a:xfrm>
          <a:prstGeom prst="roundRect">
            <a:avLst>
              <a:gd name="adj" fmla="val 50000"/>
            </a:avLst>
          </a:prstGeom>
          <a:solidFill>
            <a:srgbClr val="0A1733"/>
          </a:solidFill>
          <a:ln/>
        </p:spPr>
        <p:txBody>
          <a:bodyPr/>
          <a:lstStyle/>
          <a:p>
            <a:r>
              <a:rPr lang="en-US" sz="18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Greetings → Q&amp;A → Quiz → Photo Transform → Attendance &amp; Survey</a:t>
            </a:r>
            <a:endParaRPr lang="en-US" sz="1800" b="1" dirty="0">
              <a:solidFill>
                <a:schemeClr val="bg1"/>
              </a:solidFill>
            </a:endParaRPr>
          </a:p>
          <a:p>
            <a:endParaRPr lang="en-CN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9055" y="6217920"/>
            <a:ext cx="274320" cy="27432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051560" y="6126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4592" cy="164592"/>
          </a:xfrm>
          <a:prstGeom prst="ellipse">
            <a:avLst/>
          </a:prstGeom>
          <a:solidFill>
            <a:srgbClr val="4DA8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749808" y="4114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PEPPERAZZI  ·  HRI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91440" cy="91440"/>
          </a:xfrm>
          <a:prstGeom prst="ellipse">
            <a:avLst/>
          </a:prstGeom>
          <a:solidFill>
            <a:srgbClr val="4DA8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676656" y="1481328"/>
            <a:ext cx="91440" cy="91440"/>
          </a:xfrm>
          <a:prstGeom prst="ellipse">
            <a:avLst/>
          </a:prstGeom>
          <a:solidFill>
            <a:srgbClr val="3D7BD9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8" name="Shape 6"/>
          <p:cNvSpPr/>
          <p:nvPr/>
        </p:nvSpPr>
        <p:spPr>
          <a:xfrm>
            <a:off x="822960" y="1481328"/>
            <a:ext cx="91440" cy="9144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502920" y="15819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Pepper-</a:t>
            </a:r>
            <a:r>
              <a:rPr lang="en-US" sz="1400" i="1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azzi</a:t>
            </a: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delivers in action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502920" y="5852160"/>
            <a:ext cx="11201400" cy="685800"/>
          </a:xfrm>
          <a:prstGeom prst="roundRect">
            <a:avLst>
              <a:gd name="adj" fmla="val 13333"/>
            </a:avLst>
          </a:prstGeom>
          <a:solidFill>
            <a:srgbClr val="0A1733"/>
          </a:solidFill>
          <a:ln/>
        </p:spPr>
        <p:txBody>
          <a:bodyPr/>
          <a:lstStyle/>
          <a:p>
            <a:endParaRPr lang="en-CN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016752"/>
            <a:ext cx="365760" cy="3657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269649" y="5918900"/>
            <a:ext cx="40065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Video</a:t>
            </a: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A2AADF-DC59-3B62-B1BE-97ACAC52378F}"/>
              </a:ext>
            </a:extLst>
          </p:cNvPr>
          <p:cNvSpPr txBox="1"/>
          <p:nvPr/>
        </p:nvSpPr>
        <p:spPr>
          <a:xfrm>
            <a:off x="2843493" y="3136612"/>
            <a:ext cx="65047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000000"/>
                </a:solidFill>
                <a:effectLst/>
                <a:latin typeface=".SF NS"/>
                <a:hlinkClick r:id="rId4"/>
              </a:rPr>
              <a:t>Video Link</a:t>
            </a:r>
            <a:endParaRPr lang="en-US" sz="3200" dirty="0">
              <a:solidFill>
                <a:srgbClr val="000000"/>
              </a:solidFill>
              <a:effectLst/>
              <a:latin typeface=".SF 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4D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77330" y="10058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 made the classroom alive.</a:t>
            </a:r>
            <a:endParaRPr lang="en-US" sz="4200" dirty="0"/>
          </a:p>
        </p:txBody>
      </p:sp>
      <p:sp>
        <p:nvSpPr>
          <p:cNvPr id="21" name="Shape 14"/>
          <p:cNvSpPr/>
          <p:nvPr/>
        </p:nvSpPr>
        <p:spPr>
          <a:xfrm>
            <a:off x="640080" y="5897880"/>
            <a:ext cx="365760" cy="36576"/>
          </a:xfrm>
          <a:prstGeom prst="rect">
            <a:avLst/>
          </a:prstGeom>
          <a:solidFill>
            <a:srgbClr val="4DA8FF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2" name="Text 15"/>
          <p:cNvSpPr/>
          <p:nvPr/>
        </p:nvSpPr>
        <p:spPr>
          <a:xfrm>
            <a:off x="2222182" y="3076575"/>
            <a:ext cx="5237798" cy="1636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800" dirty="0"/>
          </a:p>
        </p:txBody>
      </p:sp>
      <p:sp>
        <p:nvSpPr>
          <p:cNvPr id="23" name="Text 16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DB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Pepper-</a:t>
            </a:r>
            <a:r>
              <a:rPr lang="en-US" sz="1000" kern="0" spc="300" dirty="0" err="1">
                <a:solidFill>
                  <a:srgbClr val="DB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azzi</a:t>
            </a:r>
            <a:r>
              <a:rPr lang="en-US" sz="1000" kern="0" spc="300" dirty="0">
                <a:solidFill>
                  <a:srgbClr val="DBE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USEK · Spring 2025–2026</a:t>
            </a:r>
            <a:endParaRPr lang="en-US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8C2E294-6F8C-46F2-9728-29FCF0AC06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9980" y="1269296"/>
            <a:ext cx="4153480" cy="48012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519</Words>
  <Application>Microsoft Macintosh PowerPoint</Application>
  <PresentationFormat>Widescreen</PresentationFormat>
  <Paragraphs>106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.SF 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Pepperazzi – AI Teaching Assistant Using Pepper Robot</dc:title>
  <dc:subject>PptxGenJS Presentation</dc:subject>
  <dc:creator>Team Pepperazzi</dc:creator>
  <cp:lastModifiedBy>مارون سلوم</cp:lastModifiedBy>
  <cp:revision>6</cp:revision>
  <dcterms:created xsi:type="dcterms:W3CDTF">2026-05-18T20:46:30Z</dcterms:created>
  <dcterms:modified xsi:type="dcterms:W3CDTF">2026-05-20T20:59:18Z</dcterms:modified>
</cp:coreProperties>
</file>